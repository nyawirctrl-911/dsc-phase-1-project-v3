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B865EE-B043-4B5B-A26A-7EC36DBC0FF7}" type="datetimeFigureOut">
              <a:rPr lang="en-US" smtClean="0"/>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90331-167A-439C-B2D1-B813319E780A}" type="slidenum">
              <a:rPr lang="en-US" smtClean="0"/>
              <a:t>‹#›</a:t>
            </a:fld>
            <a:endParaRPr lang="en-US"/>
          </a:p>
        </p:txBody>
      </p:sp>
    </p:spTree>
    <p:extLst>
      <p:ext uri="{BB962C8B-B14F-4D97-AF65-F5344CB8AC3E}">
        <p14:creationId xmlns:p14="http://schemas.microsoft.com/office/powerpoint/2010/main" val="1442792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B90331-167A-439C-B2D1-B813319E780A}" type="slidenum">
              <a:rPr lang="en-US" smtClean="0"/>
              <a:t>2</a:t>
            </a:fld>
            <a:endParaRPr lang="en-US"/>
          </a:p>
        </p:txBody>
      </p:sp>
    </p:spTree>
    <p:extLst>
      <p:ext uri="{BB962C8B-B14F-4D97-AF65-F5344CB8AC3E}">
        <p14:creationId xmlns:p14="http://schemas.microsoft.com/office/powerpoint/2010/main" val="631407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170DB-FED6-AB1D-88C1-F6600A997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32AE2-696E-5CE1-4C26-19DE1EE7AC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EEDCE-A1ED-AF70-855C-4BA4069665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EC5E3E-26BF-962B-AC52-E17B5CE3E094}"/>
              </a:ext>
            </a:extLst>
          </p:cNvPr>
          <p:cNvSpPr>
            <a:spLocks noGrp="1"/>
          </p:cNvSpPr>
          <p:nvPr>
            <p:ph type="sldNum" sz="quarter" idx="5"/>
          </p:nvPr>
        </p:nvSpPr>
        <p:spPr/>
        <p:txBody>
          <a:bodyPr/>
          <a:lstStyle/>
          <a:p>
            <a:fld id="{63B90331-167A-439C-B2D1-B813319E780A}" type="slidenum">
              <a:rPr lang="en-US" smtClean="0"/>
              <a:t>3</a:t>
            </a:fld>
            <a:endParaRPr lang="en-US"/>
          </a:p>
        </p:txBody>
      </p:sp>
    </p:spTree>
    <p:extLst>
      <p:ext uri="{BB962C8B-B14F-4D97-AF65-F5344CB8AC3E}">
        <p14:creationId xmlns:p14="http://schemas.microsoft.com/office/powerpoint/2010/main" val="2150707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DAA2F-F463-8353-EFFA-8FB6B5BA8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663C4-C1B1-79D6-C18A-03D72C254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7230D-45A6-7E69-A907-46B5366A73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72EE9B-40E4-C6F2-D409-7A641369EA69}"/>
              </a:ext>
            </a:extLst>
          </p:cNvPr>
          <p:cNvSpPr>
            <a:spLocks noGrp="1"/>
          </p:cNvSpPr>
          <p:nvPr>
            <p:ph type="sldNum" sz="quarter" idx="5"/>
          </p:nvPr>
        </p:nvSpPr>
        <p:spPr/>
        <p:txBody>
          <a:bodyPr/>
          <a:lstStyle/>
          <a:p>
            <a:fld id="{63B90331-167A-439C-B2D1-B813319E780A}" type="slidenum">
              <a:rPr lang="en-US" smtClean="0"/>
              <a:t>4</a:t>
            </a:fld>
            <a:endParaRPr lang="en-US"/>
          </a:p>
        </p:txBody>
      </p:sp>
    </p:spTree>
    <p:extLst>
      <p:ext uri="{BB962C8B-B14F-4D97-AF65-F5344CB8AC3E}">
        <p14:creationId xmlns:p14="http://schemas.microsoft.com/office/powerpoint/2010/main" val="554055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665B3-5705-3E2C-E92A-39BF61119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79F65-523A-B692-8169-402152B20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A2E40-B23A-8ACF-BBAB-7785F21F35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43E202-D6D8-EBF9-FB9C-54CB44DE7AA3}"/>
              </a:ext>
            </a:extLst>
          </p:cNvPr>
          <p:cNvSpPr>
            <a:spLocks noGrp="1"/>
          </p:cNvSpPr>
          <p:nvPr>
            <p:ph type="sldNum" sz="quarter" idx="5"/>
          </p:nvPr>
        </p:nvSpPr>
        <p:spPr/>
        <p:txBody>
          <a:bodyPr/>
          <a:lstStyle/>
          <a:p>
            <a:fld id="{63B90331-167A-439C-B2D1-B813319E780A}" type="slidenum">
              <a:rPr lang="en-US" smtClean="0"/>
              <a:t>5</a:t>
            </a:fld>
            <a:endParaRPr lang="en-US"/>
          </a:p>
        </p:txBody>
      </p:sp>
    </p:spTree>
    <p:extLst>
      <p:ext uri="{BB962C8B-B14F-4D97-AF65-F5344CB8AC3E}">
        <p14:creationId xmlns:p14="http://schemas.microsoft.com/office/powerpoint/2010/main" val="2666167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6A741-8480-EA38-8D0B-276B93B1A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8E860-E75F-2511-21C7-A78E65D12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49B5C-2203-CEFD-80A4-33474CBA30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89E91-6328-5BA8-0A1B-50330617AD9C}"/>
              </a:ext>
            </a:extLst>
          </p:cNvPr>
          <p:cNvSpPr>
            <a:spLocks noGrp="1"/>
          </p:cNvSpPr>
          <p:nvPr>
            <p:ph type="sldNum" sz="quarter" idx="5"/>
          </p:nvPr>
        </p:nvSpPr>
        <p:spPr/>
        <p:txBody>
          <a:bodyPr/>
          <a:lstStyle/>
          <a:p>
            <a:fld id="{63B90331-167A-439C-B2D1-B813319E780A}" type="slidenum">
              <a:rPr lang="en-US" smtClean="0"/>
              <a:t>6</a:t>
            </a:fld>
            <a:endParaRPr lang="en-US"/>
          </a:p>
        </p:txBody>
      </p:sp>
    </p:spTree>
    <p:extLst>
      <p:ext uri="{BB962C8B-B14F-4D97-AF65-F5344CB8AC3E}">
        <p14:creationId xmlns:p14="http://schemas.microsoft.com/office/powerpoint/2010/main" val="2096007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8E50C-181B-9FFE-93F6-F6A77F44B3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BC8D46-FC9A-D976-6FEC-AD4976C59B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9897EB-C828-795E-7E56-36BB0C771707}"/>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5" name="Footer Placeholder 4">
            <a:extLst>
              <a:ext uri="{FF2B5EF4-FFF2-40B4-BE49-F238E27FC236}">
                <a16:creationId xmlns:a16="http://schemas.microsoft.com/office/drawing/2014/main" id="{3C246ED4-33A6-A190-97C7-B2012C9AD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ECD2CD-FEC2-922C-2D6A-EF5F77FEE072}"/>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1697552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FDBA3-0521-9447-B291-D634F248D5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9D07C6-8771-C573-8C6D-3808C60AAD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1E6D8-0038-A250-C172-2FBA53FA686D}"/>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5" name="Footer Placeholder 4">
            <a:extLst>
              <a:ext uri="{FF2B5EF4-FFF2-40B4-BE49-F238E27FC236}">
                <a16:creationId xmlns:a16="http://schemas.microsoft.com/office/drawing/2014/main" id="{0092EA90-9F69-A868-CEEF-1F02F50A25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B4EE2F-6187-BC02-1DE5-2653443CED13}"/>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1789832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92AC-E492-7CD4-06BF-DA5C2D458A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76EEEA-6ED8-A16E-D09B-B7D4FC85CE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24B71-C0E9-471E-8409-071991166D45}"/>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5" name="Footer Placeholder 4">
            <a:extLst>
              <a:ext uri="{FF2B5EF4-FFF2-40B4-BE49-F238E27FC236}">
                <a16:creationId xmlns:a16="http://schemas.microsoft.com/office/drawing/2014/main" id="{A6BB5344-16F4-3FDE-EED8-EC550B236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8FC306-04D7-0C9E-79CB-F9C0ABD1D569}"/>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3532163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6B56E-C95E-0571-CF1B-97386071FA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9AC83-87AC-4D2A-4E54-0EDD00B13D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474227-0548-A4D6-6A77-BA97AB4C34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F4FBD8-4EB3-8C0B-0695-28D1D0F0E879}"/>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6" name="Footer Placeholder 5">
            <a:extLst>
              <a:ext uri="{FF2B5EF4-FFF2-40B4-BE49-F238E27FC236}">
                <a16:creationId xmlns:a16="http://schemas.microsoft.com/office/drawing/2014/main" id="{2A5D05BE-82F6-C66A-3EC6-CE0408F607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FB900F-97E9-4CE6-637E-FDF4506508D3}"/>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1324710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1C77-24E5-5792-1795-9F90D8B93B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382456-6A02-1529-9FA4-A9C328A01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C929A4-4C61-2F9A-79C1-A5D64B7524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E5BC26-4F8B-A4E6-C1B4-0AAF03A95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41D13E-0CC0-A368-6EB7-D96ADD7B1A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CD914A-71ED-008C-3C07-A9FBE923B7D9}"/>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8" name="Footer Placeholder 7">
            <a:extLst>
              <a:ext uri="{FF2B5EF4-FFF2-40B4-BE49-F238E27FC236}">
                <a16:creationId xmlns:a16="http://schemas.microsoft.com/office/drawing/2014/main" id="{2D7C0D4C-B489-B111-ED36-7384AA6A35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DE8904-17B4-F6BD-C329-16FE829C722A}"/>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3514333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11B98-6829-AD1C-903D-B5FF44DA04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28267A-FD4B-66FB-9D0D-2DF44DAF1E95}"/>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4" name="Footer Placeholder 3">
            <a:extLst>
              <a:ext uri="{FF2B5EF4-FFF2-40B4-BE49-F238E27FC236}">
                <a16:creationId xmlns:a16="http://schemas.microsoft.com/office/drawing/2014/main" id="{4C90077A-C980-49AE-003B-084B4BD4B3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252AF0-7E2B-6E9E-94FC-D3CDB10D6856}"/>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261693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16C389-C224-7AC5-A147-193CBA32A3F3}"/>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3" name="Footer Placeholder 2">
            <a:extLst>
              <a:ext uri="{FF2B5EF4-FFF2-40B4-BE49-F238E27FC236}">
                <a16:creationId xmlns:a16="http://schemas.microsoft.com/office/drawing/2014/main" id="{8DF08E83-FEB1-2E97-B506-4ED32854DD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C1305C-E057-43BD-37F4-CA59779FCD6C}"/>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1285136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E3FC0-E3BA-D7B5-048E-10351AE944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B1A8C6-F19E-EC25-13BA-D8EA084EFB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9A13F5-7EBA-3FE6-8168-06B60B819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7D51F7-D95C-06DD-D21D-D9FECED95939}"/>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6" name="Footer Placeholder 5">
            <a:extLst>
              <a:ext uri="{FF2B5EF4-FFF2-40B4-BE49-F238E27FC236}">
                <a16:creationId xmlns:a16="http://schemas.microsoft.com/office/drawing/2014/main" id="{51BC035A-B279-1170-15F1-AD711B8C4B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0A1B83-CCB6-7DC7-DB05-67CFF97DC5E1}"/>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4279351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0243-D2F5-AFAF-1F9E-CB33BA1586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EF167C-A343-608A-3446-0D4ADD0A50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ADDDC0-B55D-1D4B-B703-BA72DC717C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393E7C-BA96-9DAD-D60D-552198E1157D}"/>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6" name="Footer Placeholder 5">
            <a:extLst>
              <a:ext uri="{FF2B5EF4-FFF2-40B4-BE49-F238E27FC236}">
                <a16:creationId xmlns:a16="http://schemas.microsoft.com/office/drawing/2014/main" id="{8A9BEDBC-6505-A6B7-48F5-F07799B7B2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686F87-925E-F0EC-8310-2F2E5522184F}"/>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234425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1114-BD7D-ADCC-5B6F-CEF95BCA0E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FEE286-77F3-5C97-DB6D-DCA60138BE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8E51C-5FAF-6F46-7057-3704E9294FF9}"/>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5" name="Footer Placeholder 4">
            <a:extLst>
              <a:ext uri="{FF2B5EF4-FFF2-40B4-BE49-F238E27FC236}">
                <a16:creationId xmlns:a16="http://schemas.microsoft.com/office/drawing/2014/main" id="{ECB3D4FF-F137-C79F-58B9-279C5EE30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F4079-81BA-0313-7FE1-4E66EE27C6C4}"/>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1499027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F3BE96-6830-68E7-293C-D9737CFD7D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4A3A16-D6BD-CD6A-1D40-C2B76D5E0D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C14E27-5AF9-01F4-ED69-5D2AE277979C}"/>
              </a:ext>
            </a:extLst>
          </p:cNvPr>
          <p:cNvSpPr>
            <a:spLocks noGrp="1"/>
          </p:cNvSpPr>
          <p:nvPr>
            <p:ph type="dt" sz="half" idx="10"/>
          </p:nvPr>
        </p:nvSpPr>
        <p:spPr/>
        <p:txBody>
          <a:bodyPr/>
          <a:lstStyle/>
          <a:p>
            <a:fld id="{F94F8E1A-A3F3-43CE-B07F-1FA0C6181419}" type="datetimeFigureOut">
              <a:rPr lang="en-US" smtClean="0"/>
              <a:t>12/21/2025</a:t>
            </a:fld>
            <a:endParaRPr lang="en-US"/>
          </a:p>
        </p:txBody>
      </p:sp>
      <p:sp>
        <p:nvSpPr>
          <p:cNvPr id="5" name="Footer Placeholder 4">
            <a:extLst>
              <a:ext uri="{FF2B5EF4-FFF2-40B4-BE49-F238E27FC236}">
                <a16:creationId xmlns:a16="http://schemas.microsoft.com/office/drawing/2014/main" id="{4A146E6F-4574-D85D-C438-7B2750B55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9C4CD-0487-392D-DC30-E3376A4EC3CF}"/>
              </a:ext>
            </a:extLst>
          </p:cNvPr>
          <p:cNvSpPr>
            <a:spLocks noGrp="1"/>
          </p:cNvSpPr>
          <p:nvPr>
            <p:ph type="sldNum" sz="quarter" idx="12"/>
          </p:nvPr>
        </p:nvSpPr>
        <p:spPr/>
        <p:txBody>
          <a:bodyPr/>
          <a:lstStyle/>
          <a:p>
            <a:fld id="{B2509B84-D2CB-4DC1-B400-C651A339F263}" type="slidenum">
              <a:rPr lang="en-US" smtClean="0"/>
              <a:t>‹#›</a:t>
            </a:fld>
            <a:endParaRPr lang="en-US"/>
          </a:p>
        </p:txBody>
      </p:sp>
    </p:spTree>
    <p:extLst>
      <p:ext uri="{BB962C8B-B14F-4D97-AF65-F5344CB8AC3E}">
        <p14:creationId xmlns:p14="http://schemas.microsoft.com/office/powerpoint/2010/main" val="3264562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67244-AEDD-B012-6293-7356DBF403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61CA00-2E59-2A01-C896-FE37E5DEA3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E1C70-A5ED-962F-DE8A-30EEDF8196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4F8E1A-A3F3-43CE-B07F-1FA0C6181419}" type="datetimeFigureOut">
              <a:rPr lang="en-US" smtClean="0"/>
              <a:t>12/21/2025</a:t>
            </a:fld>
            <a:endParaRPr lang="en-US"/>
          </a:p>
        </p:txBody>
      </p:sp>
      <p:sp>
        <p:nvSpPr>
          <p:cNvPr id="5" name="Footer Placeholder 4">
            <a:extLst>
              <a:ext uri="{FF2B5EF4-FFF2-40B4-BE49-F238E27FC236}">
                <a16:creationId xmlns:a16="http://schemas.microsoft.com/office/drawing/2014/main" id="{FC7660D8-FBAD-A03E-9E8C-C58E805EC4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7E14E5-A5FC-067E-3EA5-883D2D31C0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509B84-D2CB-4DC1-B400-C651A339F263}" type="slidenum">
              <a:rPr lang="en-US" smtClean="0"/>
              <a:t>‹#›</a:t>
            </a:fld>
            <a:endParaRPr lang="en-US"/>
          </a:p>
        </p:txBody>
      </p:sp>
    </p:spTree>
    <p:extLst>
      <p:ext uri="{BB962C8B-B14F-4D97-AF65-F5344CB8AC3E}">
        <p14:creationId xmlns:p14="http://schemas.microsoft.com/office/powerpoint/2010/main" val="3183626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B4CA7-158B-C8EC-F50C-5EE1CE92050C}"/>
              </a:ext>
            </a:extLst>
          </p:cNvPr>
          <p:cNvSpPr>
            <a:spLocks noGrp="1"/>
          </p:cNvSpPr>
          <p:nvPr>
            <p:ph type="ctrTitle"/>
          </p:nvPr>
        </p:nvSpPr>
        <p:spPr/>
        <p:txBody>
          <a:bodyPr/>
          <a:lstStyle/>
          <a:p>
            <a:r>
              <a:rPr lang="en-US" dirty="0"/>
              <a:t>Aircraft safety Analysis</a:t>
            </a:r>
          </a:p>
        </p:txBody>
      </p:sp>
      <p:sp>
        <p:nvSpPr>
          <p:cNvPr id="3" name="Subtitle 2">
            <a:extLst>
              <a:ext uri="{FF2B5EF4-FFF2-40B4-BE49-F238E27FC236}">
                <a16:creationId xmlns:a16="http://schemas.microsoft.com/office/drawing/2014/main" id="{0C4BB676-20BB-A792-44F6-1B3146A73D57}"/>
              </a:ext>
            </a:extLst>
          </p:cNvPr>
          <p:cNvSpPr>
            <a:spLocks noGrp="1"/>
          </p:cNvSpPr>
          <p:nvPr>
            <p:ph type="subTitle" idx="1"/>
          </p:nvPr>
        </p:nvSpPr>
        <p:spPr/>
        <p:txBody>
          <a:bodyPr/>
          <a:lstStyle/>
          <a:p>
            <a:r>
              <a:rPr lang="en-US" dirty="0"/>
              <a:t>Turbulence motors presentation</a:t>
            </a:r>
          </a:p>
        </p:txBody>
      </p:sp>
    </p:spTree>
    <p:extLst>
      <p:ext uri="{BB962C8B-B14F-4D97-AF65-F5344CB8AC3E}">
        <p14:creationId xmlns:p14="http://schemas.microsoft.com/office/powerpoint/2010/main" val="309977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91392-1915-83A4-D8DD-182B6893A0D3}"/>
              </a:ext>
            </a:extLst>
          </p:cNvPr>
          <p:cNvSpPr>
            <a:spLocks noGrp="1"/>
          </p:cNvSpPr>
          <p:nvPr>
            <p:ph type="title"/>
          </p:nvPr>
        </p:nvSpPr>
        <p:spPr/>
        <p:txBody>
          <a:bodyPr/>
          <a:lstStyle/>
          <a:p>
            <a:r>
              <a:rPr lang="en-US" b="1" dirty="0"/>
              <a:t>1. The Business Challenge</a:t>
            </a:r>
            <a:br>
              <a:rPr lang="en-US" b="1" dirty="0"/>
            </a:br>
            <a:endParaRPr lang="en-US" dirty="0"/>
          </a:p>
        </p:txBody>
      </p:sp>
      <p:sp>
        <p:nvSpPr>
          <p:cNvPr id="3" name="Content Placeholder 2">
            <a:extLst>
              <a:ext uri="{FF2B5EF4-FFF2-40B4-BE49-F238E27FC236}">
                <a16:creationId xmlns:a16="http://schemas.microsoft.com/office/drawing/2014/main" id="{A5D0AF4B-6536-786B-C12B-51C9409B2FD3}"/>
              </a:ext>
            </a:extLst>
          </p:cNvPr>
          <p:cNvSpPr>
            <a:spLocks noGrp="1"/>
          </p:cNvSpPr>
          <p:nvPr>
            <p:ph idx="1"/>
          </p:nvPr>
        </p:nvSpPr>
        <p:spPr>
          <a:xfrm>
            <a:off x="838200" y="5943599"/>
            <a:ext cx="10515600" cy="233363"/>
          </a:xfrm>
        </p:spPr>
        <p:txBody>
          <a:bodyPr>
            <a:normAutofit fontScale="47500" lnSpcReduction="20000"/>
          </a:bodyPr>
          <a:lstStyle/>
          <a:p>
            <a:pPr marL="0" indent="0">
              <a:buNone/>
            </a:pPr>
            <a:endParaRPr lang="en-US" dirty="0"/>
          </a:p>
          <a:p>
            <a:pPr marL="0" indent="0">
              <a:buNone/>
            </a:pPr>
            <a:endParaRPr lang="en-US" dirty="0"/>
          </a:p>
        </p:txBody>
      </p:sp>
      <p:sp>
        <p:nvSpPr>
          <p:cNvPr id="5" name="Rectangle 2">
            <a:extLst>
              <a:ext uri="{FF2B5EF4-FFF2-40B4-BE49-F238E27FC236}">
                <a16:creationId xmlns:a16="http://schemas.microsoft.com/office/drawing/2014/main" id="{F39CC04E-5278-13C7-BAD7-DFDEBDB4756D}"/>
              </a:ext>
            </a:extLst>
          </p:cNvPr>
          <p:cNvSpPr>
            <a:spLocks noChangeArrowheads="1"/>
          </p:cNvSpPr>
          <p:nvPr/>
        </p:nvSpPr>
        <p:spPr bwMode="auto">
          <a:xfrm>
            <a:off x="203200" y="2295511"/>
            <a:ext cx="1232408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To protect your investment and your future passengers, we need to know: Which aircraft are the safest to buy for commercial and private use?</a:t>
            </a:r>
          </a:p>
        </p:txBody>
      </p:sp>
    </p:spTree>
    <p:extLst>
      <p:ext uri="{BB962C8B-B14F-4D97-AF65-F5344CB8AC3E}">
        <p14:creationId xmlns:p14="http://schemas.microsoft.com/office/powerpoint/2010/main" val="2996166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FC4F1-519D-558D-8C22-DC7031CE9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CC1C6-DE9A-0CEF-91D3-C3B58FF06C83}"/>
              </a:ext>
            </a:extLst>
          </p:cNvPr>
          <p:cNvSpPr>
            <a:spLocks noGrp="1"/>
          </p:cNvSpPr>
          <p:nvPr>
            <p:ph type="title"/>
          </p:nvPr>
        </p:nvSpPr>
        <p:spPr/>
        <p:txBody>
          <a:bodyPr/>
          <a:lstStyle/>
          <a:p>
            <a:r>
              <a:rPr lang="en-US" b="1" dirty="0"/>
              <a:t>2. Our Approach</a:t>
            </a:r>
            <a:br>
              <a:rPr lang="en-US" b="1" dirty="0"/>
            </a:br>
            <a:endParaRPr lang="en-US" dirty="0"/>
          </a:p>
        </p:txBody>
      </p:sp>
      <p:sp>
        <p:nvSpPr>
          <p:cNvPr id="3" name="Content Placeholder 2">
            <a:extLst>
              <a:ext uri="{FF2B5EF4-FFF2-40B4-BE49-F238E27FC236}">
                <a16:creationId xmlns:a16="http://schemas.microsoft.com/office/drawing/2014/main" id="{780E81AD-905D-734C-737F-BD703678F101}"/>
              </a:ext>
            </a:extLst>
          </p:cNvPr>
          <p:cNvSpPr>
            <a:spLocks noGrp="1"/>
          </p:cNvSpPr>
          <p:nvPr>
            <p:ph idx="1"/>
          </p:nvPr>
        </p:nvSpPr>
        <p:spPr>
          <a:xfrm>
            <a:off x="838200" y="5943599"/>
            <a:ext cx="10515600" cy="233363"/>
          </a:xfrm>
        </p:spPr>
        <p:txBody>
          <a:bodyPr>
            <a:normAutofit fontScale="47500" lnSpcReduction="20000"/>
          </a:bodyPr>
          <a:lstStyle/>
          <a:p>
            <a:pPr marL="0" indent="0">
              <a:buNone/>
            </a:pPr>
            <a:endParaRPr lang="en-US" dirty="0"/>
          </a:p>
          <a:p>
            <a:pPr marL="0" indent="0">
              <a:buNone/>
            </a:pPr>
            <a:endParaRPr lang="en-US" dirty="0"/>
          </a:p>
        </p:txBody>
      </p:sp>
      <p:sp>
        <p:nvSpPr>
          <p:cNvPr id="5" name="Rectangle 2">
            <a:extLst>
              <a:ext uri="{FF2B5EF4-FFF2-40B4-BE49-F238E27FC236}">
                <a16:creationId xmlns:a16="http://schemas.microsoft.com/office/drawing/2014/main" id="{36C867C2-F77A-3F24-8B45-10B5D3C1D71E}"/>
              </a:ext>
            </a:extLst>
          </p:cNvPr>
          <p:cNvSpPr>
            <a:spLocks noChangeArrowheads="1"/>
          </p:cNvSpPr>
          <p:nvPr/>
        </p:nvSpPr>
        <p:spPr bwMode="auto">
          <a:xfrm>
            <a:off x="0" y="1225292"/>
            <a:ext cx="1232408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We analyzed a massive dataset of over 90,000 aviation records spanning several decades. We looked beyond just the "number of accidents" and focused 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Severity: How often do accidents result in injuries or fatalities?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Conditions: What role does weather play in safety?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Reliability: Which manufacturers consistently show the lowest risk profiles?</a:t>
            </a:r>
          </a:p>
        </p:txBody>
      </p:sp>
    </p:spTree>
    <p:extLst>
      <p:ext uri="{BB962C8B-B14F-4D97-AF65-F5344CB8AC3E}">
        <p14:creationId xmlns:p14="http://schemas.microsoft.com/office/powerpoint/2010/main" val="1541344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10B4C-AFC5-BDAD-280F-4B9027818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BC253-8BDF-D289-11D1-86A757C254F9}"/>
              </a:ext>
            </a:extLst>
          </p:cNvPr>
          <p:cNvSpPr>
            <a:spLocks noGrp="1"/>
          </p:cNvSpPr>
          <p:nvPr>
            <p:ph type="title"/>
          </p:nvPr>
        </p:nvSpPr>
        <p:spPr/>
        <p:txBody>
          <a:bodyPr/>
          <a:lstStyle/>
          <a:p>
            <a:r>
              <a:rPr lang="en-US" b="1" dirty="0"/>
              <a:t>3. Key Insights from the Data</a:t>
            </a:r>
            <a:br>
              <a:rPr lang="en-US" b="1" dirty="0"/>
            </a:br>
            <a:endParaRPr lang="en-US" dirty="0"/>
          </a:p>
        </p:txBody>
      </p:sp>
      <p:sp>
        <p:nvSpPr>
          <p:cNvPr id="3" name="Content Placeholder 2">
            <a:extLst>
              <a:ext uri="{FF2B5EF4-FFF2-40B4-BE49-F238E27FC236}">
                <a16:creationId xmlns:a16="http://schemas.microsoft.com/office/drawing/2014/main" id="{441CC4DD-06F6-4C25-1064-872C4CCAD456}"/>
              </a:ext>
            </a:extLst>
          </p:cNvPr>
          <p:cNvSpPr>
            <a:spLocks noGrp="1"/>
          </p:cNvSpPr>
          <p:nvPr>
            <p:ph idx="1"/>
          </p:nvPr>
        </p:nvSpPr>
        <p:spPr>
          <a:xfrm>
            <a:off x="838200" y="5943599"/>
            <a:ext cx="10515600" cy="233363"/>
          </a:xfrm>
        </p:spPr>
        <p:txBody>
          <a:bodyPr>
            <a:normAutofit fontScale="47500" lnSpcReduction="20000"/>
          </a:bodyPr>
          <a:lstStyle/>
          <a:p>
            <a:pPr marL="0" indent="0">
              <a:buNone/>
            </a:pPr>
            <a:endParaRPr lang="en-US" dirty="0"/>
          </a:p>
          <a:p>
            <a:pPr marL="0" indent="0">
              <a:buNone/>
            </a:pPr>
            <a:endParaRPr lang="en-US" dirty="0"/>
          </a:p>
        </p:txBody>
      </p:sp>
      <p:sp>
        <p:nvSpPr>
          <p:cNvPr id="5" name="Rectangle 2">
            <a:extLst>
              <a:ext uri="{FF2B5EF4-FFF2-40B4-BE49-F238E27FC236}">
                <a16:creationId xmlns:a16="http://schemas.microsoft.com/office/drawing/2014/main" id="{E5DF1852-1EF7-7EE4-4990-5DA6159D4230}"/>
              </a:ext>
            </a:extLst>
          </p:cNvPr>
          <p:cNvSpPr>
            <a:spLocks noChangeArrowheads="1"/>
          </p:cNvSpPr>
          <p:nvPr/>
        </p:nvSpPr>
        <p:spPr bwMode="auto">
          <a:xfrm>
            <a:off x="0" y="1471513"/>
            <a:ext cx="1232408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brands with the most recorded accidents (like Cessna or Piper) often have higher numbers simply because they are the most widely used planes in the world. Their "risk" is often a reflection of their popularity, not necessarily poor 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Weather Factor: Interestingly, more accidents occur during Visual Meteorological Conditions (VMC)—essentially clear weather. This suggests that pilot behavior or higher flight volume during good weather contributes more to accident rates than stormy conditions 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Severity vs. Frequency: A high number of minor "fender benders" is preferable to a low number of fatal crashes. We prioritized makes that show a "zero-fatality" history in the records analyzed.</a:t>
            </a:r>
          </a:p>
        </p:txBody>
      </p:sp>
    </p:spTree>
    <p:extLst>
      <p:ext uri="{BB962C8B-B14F-4D97-AF65-F5344CB8AC3E}">
        <p14:creationId xmlns:p14="http://schemas.microsoft.com/office/powerpoint/2010/main" val="2823481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8D40-031A-4481-DBD2-70C4A6AB4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E0B20-D3ED-456D-8BB2-A3F4FB268DE3}"/>
              </a:ext>
            </a:extLst>
          </p:cNvPr>
          <p:cNvSpPr>
            <a:spLocks noGrp="1"/>
          </p:cNvSpPr>
          <p:nvPr>
            <p:ph type="title"/>
          </p:nvPr>
        </p:nvSpPr>
        <p:spPr/>
        <p:txBody>
          <a:bodyPr/>
          <a:lstStyle/>
          <a:p>
            <a:r>
              <a:rPr lang="en-US" b="1" dirty="0"/>
              <a:t>4. Safety Recommendations</a:t>
            </a:r>
            <a:br>
              <a:rPr lang="en-US" b="1" dirty="0"/>
            </a:br>
            <a:endParaRPr lang="en-US" dirty="0"/>
          </a:p>
        </p:txBody>
      </p:sp>
      <p:sp>
        <p:nvSpPr>
          <p:cNvPr id="3" name="Content Placeholder 2">
            <a:extLst>
              <a:ext uri="{FF2B5EF4-FFF2-40B4-BE49-F238E27FC236}">
                <a16:creationId xmlns:a16="http://schemas.microsoft.com/office/drawing/2014/main" id="{05E83F78-5AF7-35DD-A7D9-C64308453901}"/>
              </a:ext>
            </a:extLst>
          </p:cNvPr>
          <p:cNvSpPr>
            <a:spLocks noGrp="1"/>
          </p:cNvSpPr>
          <p:nvPr>
            <p:ph idx="1"/>
          </p:nvPr>
        </p:nvSpPr>
        <p:spPr>
          <a:xfrm>
            <a:off x="838200" y="5943599"/>
            <a:ext cx="10515600" cy="233363"/>
          </a:xfrm>
        </p:spPr>
        <p:txBody>
          <a:bodyPr>
            <a:normAutofit fontScale="47500" lnSpcReduction="20000"/>
          </a:bodyPr>
          <a:lstStyle/>
          <a:p>
            <a:pPr marL="0" indent="0">
              <a:buNone/>
            </a:pPr>
            <a:endParaRPr lang="en-US" dirty="0"/>
          </a:p>
          <a:p>
            <a:pPr marL="0" indent="0">
              <a:buNone/>
            </a:pPr>
            <a:endParaRPr lang="en-US" dirty="0"/>
          </a:p>
        </p:txBody>
      </p:sp>
      <p:sp>
        <p:nvSpPr>
          <p:cNvPr id="5" name="Rectangle 2">
            <a:extLst>
              <a:ext uri="{FF2B5EF4-FFF2-40B4-BE49-F238E27FC236}">
                <a16:creationId xmlns:a16="http://schemas.microsoft.com/office/drawing/2014/main" id="{D249A7C7-88DB-1DBA-493C-E51D8D93B975}"/>
              </a:ext>
            </a:extLst>
          </p:cNvPr>
          <p:cNvSpPr>
            <a:spLocks noChangeArrowheads="1"/>
          </p:cNvSpPr>
          <p:nvPr/>
        </p:nvSpPr>
        <p:spPr bwMode="auto">
          <a:xfrm>
            <a:off x="0" y="1717734"/>
            <a:ext cx="1232408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Based on the historical data, we have identified three manufacturers that stand out for their exceptional safety records. These makes have fewer accidents, and the accidents they do have are significantly less likely to be fatal: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SIAI-MARCHETTIGROB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AIRCRAFT AGDIAMOND</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 AIRCRAFT IND GMBH</a:t>
            </a:r>
          </a:p>
        </p:txBody>
      </p:sp>
    </p:spTree>
    <p:extLst>
      <p:ext uri="{BB962C8B-B14F-4D97-AF65-F5344CB8AC3E}">
        <p14:creationId xmlns:p14="http://schemas.microsoft.com/office/powerpoint/2010/main" val="107741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80CE5-2CBE-FBB6-F952-0A4BF4AC5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A7C33-6C97-D5A8-CA5A-9C840F85D18A}"/>
              </a:ext>
            </a:extLst>
          </p:cNvPr>
          <p:cNvSpPr>
            <a:spLocks noGrp="1"/>
          </p:cNvSpPr>
          <p:nvPr>
            <p:ph type="title"/>
          </p:nvPr>
        </p:nvSpPr>
        <p:spPr/>
        <p:txBody>
          <a:bodyPr/>
          <a:lstStyle/>
          <a:p>
            <a:r>
              <a:rPr lang="en-US" b="1" dirty="0"/>
              <a:t>5. Final Conclusion</a:t>
            </a:r>
            <a:br>
              <a:rPr lang="en-US" b="1" dirty="0"/>
            </a:br>
            <a:endParaRPr lang="en-US" dirty="0"/>
          </a:p>
        </p:txBody>
      </p:sp>
      <p:sp>
        <p:nvSpPr>
          <p:cNvPr id="3" name="Content Placeholder 2">
            <a:extLst>
              <a:ext uri="{FF2B5EF4-FFF2-40B4-BE49-F238E27FC236}">
                <a16:creationId xmlns:a16="http://schemas.microsoft.com/office/drawing/2014/main" id="{81EB7CED-C410-7964-0707-280EB77BACFC}"/>
              </a:ext>
            </a:extLst>
          </p:cNvPr>
          <p:cNvSpPr>
            <a:spLocks noGrp="1"/>
          </p:cNvSpPr>
          <p:nvPr>
            <p:ph idx="1"/>
          </p:nvPr>
        </p:nvSpPr>
        <p:spPr>
          <a:xfrm>
            <a:off x="838200" y="5943599"/>
            <a:ext cx="10515600" cy="233363"/>
          </a:xfrm>
        </p:spPr>
        <p:txBody>
          <a:bodyPr>
            <a:normAutofit fontScale="47500" lnSpcReduction="20000"/>
          </a:bodyPr>
          <a:lstStyle/>
          <a:p>
            <a:pPr marL="0" indent="0">
              <a:buNone/>
            </a:pPr>
            <a:endParaRPr lang="en-US" dirty="0"/>
          </a:p>
          <a:p>
            <a:pPr marL="0" indent="0">
              <a:buNone/>
            </a:pPr>
            <a:endParaRPr lang="en-US" dirty="0"/>
          </a:p>
        </p:txBody>
      </p:sp>
      <p:sp>
        <p:nvSpPr>
          <p:cNvPr id="5" name="Rectangle 2">
            <a:extLst>
              <a:ext uri="{FF2B5EF4-FFF2-40B4-BE49-F238E27FC236}">
                <a16:creationId xmlns:a16="http://schemas.microsoft.com/office/drawing/2014/main" id="{30C18E5E-12DC-9CA1-24E5-73F2F7207DB5}"/>
              </a:ext>
            </a:extLst>
          </p:cNvPr>
          <p:cNvSpPr>
            <a:spLocks noChangeArrowheads="1"/>
          </p:cNvSpPr>
          <p:nvPr/>
        </p:nvSpPr>
        <p:spPr bwMode="auto">
          <a:xfrm>
            <a:off x="0" y="1806158"/>
            <a:ext cx="1232408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To ensure a successful and safe entry into the aviation market, we recommend focusing our initial fleet acquisition on these identified "low-risk" manufacturers. By prioritizing severity over frequency, we can make a data-driven choice that protects our brand and our clients.</a:t>
            </a:r>
          </a:p>
        </p:txBody>
      </p:sp>
    </p:spTree>
    <p:extLst>
      <p:ext uri="{BB962C8B-B14F-4D97-AF65-F5344CB8AC3E}">
        <p14:creationId xmlns:p14="http://schemas.microsoft.com/office/powerpoint/2010/main" val="126965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350</Words>
  <Application>Microsoft Office PowerPoint</Application>
  <PresentationFormat>Widescreen</PresentationFormat>
  <Paragraphs>31</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Aircraft safety Analysis</vt:lpstr>
      <vt:lpstr>1. The Business Challenge </vt:lpstr>
      <vt:lpstr>2. Our Approach </vt:lpstr>
      <vt:lpstr>3. Key Insights from the Data </vt:lpstr>
      <vt:lpstr>4. Safety Recommendations </vt:lpstr>
      <vt:lpstr>5. Final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W!LL 00</dc:creator>
  <cp:lastModifiedBy>W!LL 00</cp:lastModifiedBy>
  <cp:revision>1</cp:revision>
  <dcterms:created xsi:type="dcterms:W3CDTF">2025-12-19T04:40:02Z</dcterms:created>
  <dcterms:modified xsi:type="dcterms:W3CDTF">2025-12-21T11:26:33Z</dcterms:modified>
</cp:coreProperties>
</file>